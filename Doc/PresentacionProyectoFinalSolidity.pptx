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7" r:id="rId3"/>
    <p:sldId id="258" r:id="rId4"/>
    <p:sldId id="259" r:id="rId5"/>
    <p:sldId id="265" r:id="rId6"/>
    <p:sldId id="262" r:id="rId7"/>
    <p:sldId id="267" r:id="rId8"/>
    <p:sldId id="260" r:id="rId9"/>
    <p:sldId id="268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514" y="-2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Freeform 9"/>
          <p:cNvSpPr/>
          <p:nvPr/>
        </p:nvSpPr>
        <p:spPr>
          <a:xfrm rot="10800000">
            <a:off x="891821" y="5617774"/>
            <a:ext cx="7382935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989952" y="1016990"/>
            <a:ext cx="7179733" cy="4831643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90600" y="1009650"/>
            <a:ext cx="7179733" cy="4831643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769521" y="702069"/>
            <a:ext cx="567831" cy="567830"/>
          </a:xfrm>
          <a:prstGeom prst="rect">
            <a:avLst/>
          </a:prstGeom>
          <a:noFill/>
        </p:spPr>
      </p:pic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7855433" y="749720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1" y="1794935"/>
            <a:ext cx="5723468" cy="182809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3736622"/>
            <a:ext cx="5712179" cy="1524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70676" y="5357592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74044" y="5357592"/>
            <a:ext cx="5034845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213930" y="5357592"/>
            <a:ext cx="554023" cy="365125"/>
          </a:xfrm>
        </p:spPr>
        <p:txBody>
          <a:bodyPr/>
          <a:lstStyle>
            <a:lvl1pPr algn="ctr">
              <a:defRPr/>
            </a:lvl1pPr>
          </a:lstStyle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979" y="2239430"/>
            <a:ext cx="6254044" cy="1362075"/>
          </a:xfrm>
        </p:spPr>
        <p:txBody>
          <a:bodyPr anchor="b"/>
          <a:lstStyle>
            <a:lvl1pPr algn="ctr">
              <a:defRPr sz="4000" b="0" cap="none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267" y="3725334"/>
            <a:ext cx="6231467" cy="1309511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298448" y="2121407"/>
            <a:ext cx="3200400" cy="360273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63440" y="2119313"/>
            <a:ext cx="3200400" cy="3605212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7869" y="2122312"/>
            <a:ext cx="2939521" cy="820208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10669" y="2122311"/>
            <a:ext cx="2944368" cy="822960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1298448" y="2944368"/>
            <a:ext cx="3227832" cy="277977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45151" y="2944813"/>
            <a:ext cx="3227832" cy="277977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Freeform 10"/>
          <p:cNvSpPr/>
          <p:nvPr/>
        </p:nvSpPr>
        <p:spPr>
          <a:xfrm rot="10800000">
            <a:off x="632177" y="6058038"/>
            <a:ext cx="772160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 rot="60000">
            <a:off x="4468872" y="605163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rot="60000">
            <a:off x="4471416" y="603504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 rot="21540000">
            <a:off x="749204" y="576868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 rot="21540000">
            <a:off x="749808" y="576072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2371106" y="293953"/>
            <a:ext cx="567831" cy="567830"/>
          </a:xfrm>
          <a:prstGeom prst="rect">
            <a:avLst/>
          </a:prstGeom>
          <a:noFill/>
        </p:spPr>
      </p:pic>
      <p:pic>
        <p:nvPicPr>
          <p:cNvPr id="19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6279647" y="333163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-60000">
            <a:off x="1108976" y="2020042"/>
            <a:ext cx="3064827" cy="1503037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rot="60000">
            <a:off x="4854291" y="1150993"/>
            <a:ext cx="3020792" cy="4625489"/>
          </a:xfrm>
        </p:spPr>
        <p:txBody>
          <a:bodyPr anchor="ctr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-60000">
            <a:off x="1148125" y="3623748"/>
            <a:ext cx="3048891" cy="21004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60000">
            <a:off x="6341698" y="5885672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-60000">
            <a:off x="914554" y="5829261"/>
            <a:ext cx="3522607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 rot="60000">
            <a:off x="7557313" y="5896961"/>
            <a:ext cx="554023" cy="365125"/>
          </a:xfrm>
        </p:spPr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Freeform 30"/>
          <p:cNvSpPr/>
          <p:nvPr/>
        </p:nvSpPr>
        <p:spPr>
          <a:xfrm rot="10800000">
            <a:off x="632177" y="6058038"/>
            <a:ext cx="772160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 rot="21540000">
            <a:off x="749204" y="576868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 rot="21540000">
            <a:off x="745058" y="575769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rot="60000">
            <a:off x="4468872" y="605163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rot="60000">
            <a:off x="4464768" y="603920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2371106" y="293953"/>
            <a:ext cx="567831" cy="567830"/>
          </a:xfrm>
          <a:prstGeom prst="rect">
            <a:avLst/>
          </a:prstGeom>
          <a:noFill/>
        </p:spPr>
      </p:pic>
      <p:pic>
        <p:nvPicPr>
          <p:cNvPr id="15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6279647" y="333163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-60000">
            <a:off x="1106424" y="2020824"/>
            <a:ext cx="3063240" cy="1499616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60000">
            <a:off x="4898615" y="1207272"/>
            <a:ext cx="2913863" cy="4539412"/>
          </a:xfrm>
          <a:ln w="101600" cap="rnd">
            <a:solidFill>
              <a:srgbClr val="FFFFFF"/>
            </a:solidFill>
          </a:ln>
          <a:effectLst>
            <a:outerShdw blurRad="889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-60000">
            <a:off x="1152144" y="3621024"/>
            <a:ext cx="3044952" cy="210312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60000">
            <a:off x="6345936" y="5888737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-60000">
            <a:off x="914569" y="5831037"/>
            <a:ext cx="3319043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 rot="60000">
            <a:off x="7562089" y="5900026"/>
            <a:ext cx="554023" cy="365125"/>
          </a:xfrm>
        </p:spPr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925690"/>
            <a:ext cx="1430867" cy="476391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8221" y="1106312"/>
            <a:ext cx="5178779" cy="440266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Freeform 9"/>
          <p:cNvSpPr/>
          <p:nvPr/>
        </p:nvSpPr>
        <p:spPr>
          <a:xfrm rot="10800000">
            <a:off x="628650" y="6069330"/>
            <a:ext cx="792099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31520" y="575310"/>
            <a:ext cx="7696200" cy="5715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31520" y="576072"/>
            <a:ext cx="7696200" cy="5715000"/>
          </a:xfrm>
          <a:prstGeom prst="rect">
            <a:avLst/>
          </a:prstGeom>
          <a:blipFill dpi="0" rotWithShape="1">
            <a:blip r:embed="rId13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 rot="1435684">
            <a:off x="543741" y="273091"/>
            <a:ext cx="567831" cy="567830"/>
          </a:xfrm>
          <a:prstGeom prst="rect">
            <a:avLst/>
          </a:prstGeom>
          <a:noFill/>
        </p:spPr>
      </p:pic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 rot="4096196">
            <a:off x="8115079" y="298163"/>
            <a:ext cx="566928" cy="566928"/>
          </a:xfrm>
          <a:prstGeom prst="rect">
            <a:avLst/>
          </a:prstGeom>
          <a:noFill/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5023" y="817582"/>
            <a:ext cx="6965245" cy="12024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0" y="2119257"/>
            <a:ext cx="6196405" cy="36038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54588" y="5809152"/>
            <a:ext cx="12138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fld id="{6091C3C9-4407-446B-8271-D177C97F1B25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4401" y="5809152"/>
            <a:ext cx="55401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70202" y="5809152"/>
            <a:ext cx="5540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4320" indent="-27432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 smtClean="0"/>
              <a:t>Proyecto</a:t>
            </a:r>
            <a:r>
              <a:rPr lang="en-IE" dirty="0" smtClean="0"/>
              <a:t> Final Solidity</a:t>
            </a:r>
            <a:endParaRPr lang="es-ES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 dirty="0" smtClean="0"/>
          </a:p>
          <a:p>
            <a:endParaRPr lang="en-IE" dirty="0"/>
          </a:p>
          <a:p>
            <a:r>
              <a:rPr lang="en-IE" dirty="0" smtClean="0"/>
              <a:t>Paola Lucero 2025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7022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 smtClean="0"/>
              <a:t>Estructura</a:t>
            </a:r>
            <a:r>
              <a:rPr lang="en-IE" dirty="0" smtClean="0"/>
              <a:t> del </a:t>
            </a:r>
            <a:r>
              <a:rPr lang="en-IE" dirty="0" err="1" smtClean="0"/>
              <a:t>proyecto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920660"/>
          </a:xfrm>
        </p:spPr>
        <p:txBody>
          <a:bodyPr>
            <a:normAutofit/>
          </a:bodyPr>
          <a:lstStyle/>
          <a:p>
            <a:endParaRPr lang="en-IE" dirty="0" smtClean="0"/>
          </a:p>
          <a:p>
            <a:endParaRPr lang="en-IE" dirty="0"/>
          </a:p>
          <a:p>
            <a:r>
              <a:rPr lang="es-ES" sz="2800" dirty="0"/>
              <a:t>- [</a:t>
            </a:r>
            <a:r>
              <a:rPr lang="es-ES" sz="2800" dirty="0" smtClean="0"/>
              <a:t>01_PROYECTO_A_IMPLEMENTAR.md</a:t>
            </a:r>
            <a:endParaRPr lang="es-ES" sz="2800" dirty="0"/>
          </a:p>
          <a:p>
            <a:r>
              <a:rPr lang="es-ES" sz="2800" dirty="0" smtClean="0"/>
              <a:t>- [02_PROYECTO_IMPLEMENTADO_Y_ANALISIS.md]</a:t>
            </a:r>
          </a:p>
          <a:p>
            <a:r>
              <a:rPr lang="es-ES" sz="2800" dirty="0" smtClean="0"/>
              <a:t>- [03_GUIA_TECNICA_INSTALACION.md</a:t>
            </a:r>
          </a:p>
          <a:p>
            <a:r>
              <a:rPr lang="es-ES" sz="2800" dirty="0" smtClean="0"/>
              <a:t>- [04_CASOS_DE_USO.md]</a:t>
            </a:r>
          </a:p>
          <a:p>
            <a:r>
              <a:rPr lang="es-ES" sz="2800" dirty="0" smtClean="0"/>
              <a:t>- [05_IA.m]</a:t>
            </a:r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375072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 smtClean="0"/>
              <a:t>Inicio</a:t>
            </a:r>
            <a:r>
              <a:rPr lang="en-IE" dirty="0" smtClean="0"/>
              <a:t> del </a:t>
            </a:r>
            <a:r>
              <a:rPr lang="en-IE" dirty="0" err="1" smtClean="0"/>
              <a:t>sistema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187624" y="1268760"/>
            <a:ext cx="6471821" cy="4454309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1" y="1772816"/>
            <a:ext cx="2808312" cy="36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913" y="1628800"/>
            <a:ext cx="3956252" cy="2952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3861048"/>
            <a:ext cx="3648646" cy="22629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1318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043608" y="908720"/>
            <a:ext cx="6615837" cy="4814349"/>
          </a:xfrm>
        </p:spPr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932" y="1988839"/>
            <a:ext cx="3694733" cy="4260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052736"/>
            <a:ext cx="3181350" cy="1409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638" y="1340768"/>
            <a:ext cx="3563492" cy="42748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38537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095023" y="692696"/>
            <a:ext cx="7077377" cy="1327371"/>
          </a:xfrm>
        </p:spPr>
        <p:txBody>
          <a:bodyPr>
            <a:normAutofit fontScale="90000"/>
          </a:bodyPr>
          <a:lstStyle/>
          <a:p>
            <a:pPr algn="l"/>
            <a:r>
              <a:rPr lang="es-ES" sz="4000" b="1" dirty="0" smtClean="0"/>
              <a:t>Máquina </a:t>
            </a:r>
            <a:r>
              <a:rPr lang="es-ES" sz="4000" b="1" dirty="0"/>
              <a:t>de Estados de Usuario</a:t>
            </a:r>
            <a:r>
              <a:rPr lang="es-ES" b="1" dirty="0"/>
              <a:t/>
            </a:r>
            <a:br>
              <a:rPr lang="es-ES" b="1" dirty="0"/>
            </a:b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1484784"/>
            <a:ext cx="4680520" cy="464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91833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Matriz de Permisos por </a:t>
            </a:r>
            <a:r>
              <a:rPr lang="es-ES" dirty="0" smtClean="0"/>
              <a:t>Rol</a:t>
            </a:r>
            <a:r>
              <a:rPr lang="en-IE" dirty="0" smtClean="0"/>
              <a:t> 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924" y="2132856"/>
            <a:ext cx="7340600" cy="3456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14560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 err="1" smtClean="0"/>
              <a:t>Grafo</a:t>
            </a:r>
            <a:r>
              <a:rPr lang="en-IE" dirty="0" smtClean="0"/>
              <a:t> del </a:t>
            </a:r>
            <a:r>
              <a:rPr lang="en-IE" dirty="0" err="1" smtClean="0"/>
              <a:t>producto</a:t>
            </a:r>
            <a:r>
              <a:rPr lang="en-IE" dirty="0" smtClean="0"/>
              <a:t> </a:t>
            </a:r>
            <a:r>
              <a:rPr lang="en-IE" dirty="0" err="1" smtClean="0"/>
              <a:t>derivado</a:t>
            </a:r>
            <a:r>
              <a:rPr lang="en-IE" dirty="0" smtClean="0"/>
              <a:t> </a:t>
            </a:r>
            <a:r>
              <a:rPr lang="en-IE" dirty="0" err="1" smtClean="0"/>
              <a:t>cuando</a:t>
            </a:r>
            <a:r>
              <a:rPr lang="en-IE" dirty="0" smtClean="0"/>
              <a:t> </a:t>
            </a:r>
            <a:r>
              <a:rPr lang="en-IE" dirty="0" err="1" smtClean="0"/>
              <a:t>llega</a:t>
            </a:r>
            <a:r>
              <a:rPr lang="en-IE" dirty="0" smtClean="0"/>
              <a:t> al Consumer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129" y="2060848"/>
            <a:ext cx="7118350" cy="3752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0568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Quick </a:t>
            </a:r>
            <a:r>
              <a:rPr lang="es-ES" dirty="0" err="1"/>
              <a:t>workaround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772816"/>
            <a:ext cx="7419677" cy="20890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740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71600" y="836712"/>
            <a:ext cx="7128792" cy="4886357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s-ES" b="1" dirty="0">
                <a:solidFill>
                  <a:srgbClr val="FF0000"/>
                </a:solidFill>
              </a:rPr>
              <a:t>Qué he aprendido?</a:t>
            </a:r>
          </a:p>
          <a:p>
            <a:r>
              <a:rPr lang="es-ES" b="1" dirty="0"/>
              <a:t>Refuerzo mi pensamiento sobre el uso de la IA: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Entendí que la inteligencia artificial debe utilizarse para </a:t>
            </a:r>
            <a:r>
              <a:rPr lang="es-ES" i="1" dirty="0"/>
              <a:t>mejorar</a:t>
            </a:r>
            <a:r>
              <a:rPr lang="es-ES" dirty="0"/>
              <a:t>, </a:t>
            </a:r>
            <a:r>
              <a:rPr lang="es-ES" i="1" dirty="0"/>
              <a:t>acelerar</a:t>
            </a:r>
            <a:r>
              <a:rPr lang="es-ES" dirty="0"/>
              <a:t> y </a:t>
            </a:r>
            <a:r>
              <a:rPr lang="es-ES" i="1" dirty="0"/>
              <a:t>refinar</a:t>
            </a:r>
            <a:r>
              <a:rPr lang="es-ES" dirty="0"/>
              <a:t> mi trabajo, pero </a:t>
            </a:r>
            <a:r>
              <a:rPr lang="es-ES" b="1" dirty="0"/>
              <a:t>no como reemplazo del conocimiento real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Si yo no entiendo bien lo que estoy haciendo, la IA tampoco puede salvarme. Solo potencia lo que ya sé.</a:t>
            </a:r>
          </a:p>
          <a:p>
            <a:r>
              <a:rPr lang="es-ES" b="1" dirty="0"/>
              <a:t>Si quiero pasar de QA a desarrolladora, necesito una base más fuerte: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Este proyecto me confirmó que, si realmente quiero avanzar hacia un rol de desarrollo, tengo que </a:t>
            </a:r>
            <a:r>
              <a:rPr lang="es-ES" b="1" dirty="0"/>
              <a:t>estudiar más profundamente </a:t>
            </a:r>
            <a:r>
              <a:rPr lang="es-ES" b="1" dirty="0" err="1"/>
              <a:t>frontend</a:t>
            </a:r>
            <a:r>
              <a:rPr lang="es-ES" dirty="0"/>
              <a:t>, no solo lo básico. Tengo que dominar:</a:t>
            </a:r>
          </a:p>
          <a:p>
            <a:pPr lvl="1"/>
            <a:r>
              <a:rPr lang="es-ES" dirty="0" err="1"/>
              <a:t>React</a:t>
            </a:r>
            <a:r>
              <a:rPr lang="es-ES" dirty="0"/>
              <a:t>/Next.js</a:t>
            </a:r>
          </a:p>
          <a:p>
            <a:pPr lvl="1"/>
            <a:r>
              <a:rPr lang="es-ES" dirty="0"/>
              <a:t>estado, lógica, </a:t>
            </a:r>
            <a:r>
              <a:rPr lang="es-ES" dirty="0" err="1"/>
              <a:t>hooks</a:t>
            </a:r>
            <a:endParaRPr lang="es-ES" dirty="0"/>
          </a:p>
          <a:p>
            <a:pPr lvl="1"/>
            <a:r>
              <a:rPr lang="es-ES" dirty="0"/>
              <a:t>integración con contratos inteligentes</a:t>
            </a:r>
          </a:p>
          <a:p>
            <a:pPr lvl="1"/>
            <a:r>
              <a:rPr lang="es-ES" dirty="0"/>
              <a:t>arquitectura mínima del </a:t>
            </a:r>
            <a:r>
              <a:rPr lang="es-ES" dirty="0" err="1"/>
              <a:t>frontend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Esto es algo que quiero y hacia donde quiero crecer.</a:t>
            </a:r>
          </a:p>
          <a:p>
            <a:pPr marL="0" indent="0">
              <a:buNone/>
            </a:pPr>
            <a:r>
              <a:rPr lang="es-ES" b="1" dirty="0" smtClean="0">
                <a:solidFill>
                  <a:srgbClr val="FF0000"/>
                </a:solidFill>
              </a:rPr>
              <a:t>¿</a:t>
            </a:r>
            <a:r>
              <a:rPr lang="es-ES" b="1" dirty="0">
                <a:solidFill>
                  <a:srgbClr val="FF0000"/>
                </a:solidFill>
              </a:rPr>
              <a:t>Qué me gustaría recibir como devolución de mi proyecto?</a:t>
            </a:r>
          </a:p>
          <a:p>
            <a:r>
              <a:rPr lang="es-ES" b="1" dirty="0"/>
              <a:t>Saber si entendí bien la regla de negocio: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Más allá de si el código está perfecto o no, lo que realmente quiero es saber </a:t>
            </a:r>
            <a:r>
              <a:rPr lang="es-ES" b="1" dirty="0"/>
              <a:t>si interpreté la lógica del negocio correctamente</a:t>
            </a:r>
            <a:r>
              <a:rPr lang="es-ES" dirty="0"/>
              <a:t>, si mi diseño conceptual (flujo, actores, entidades, relaciones) tiene sentido y está alineado con lo que se pedía.</a:t>
            </a:r>
            <a:br>
              <a:rPr lang="es-ES" dirty="0"/>
            </a:br>
            <a:r>
              <a:rPr lang="es-ES" dirty="0"/>
              <a:t>Es la parte que más me importa porque define si estoy “pensando como desarrolladora”.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916854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incheta">
  <a:themeElements>
    <a:clrScheme name="Chincheta">
      <a:dk1>
        <a:sysClr val="windowText" lastClr="000000"/>
      </a:dk1>
      <a:lt1>
        <a:sysClr val="window" lastClr="FFFFFF"/>
      </a:lt1>
      <a:dk2>
        <a:srgbClr val="465E9C"/>
      </a:dk2>
      <a:lt2>
        <a:srgbClr val="CCDDEA"/>
      </a:lt2>
      <a:accent1>
        <a:srgbClr val="FDA023"/>
      </a:accent1>
      <a:accent2>
        <a:srgbClr val="AA2B1E"/>
      </a:accent2>
      <a:accent3>
        <a:srgbClr val="71685C"/>
      </a:accent3>
      <a:accent4>
        <a:srgbClr val="64A73B"/>
      </a:accent4>
      <a:accent5>
        <a:srgbClr val="EB5605"/>
      </a:accent5>
      <a:accent6>
        <a:srgbClr val="B9CA1A"/>
      </a:accent6>
      <a:hlink>
        <a:srgbClr val="D83E2C"/>
      </a:hlink>
      <a:folHlink>
        <a:srgbClr val="ED7D27"/>
      </a:folHlink>
    </a:clrScheme>
    <a:fontScheme name="Chincheta">
      <a:majorFont>
        <a:latin typeface="Constantia"/>
        <a:ea typeface=""/>
        <a:cs typeface=""/>
        <a:font script="Jpan" typeface="HGS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Arial"/>
        <a:font script="Cyrl" typeface="Arial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inchet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  <a:lumMod val="100000"/>
              </a:schemeClr>
            </a:gs>
            <a:gs pos="40000">
              <a:schemeClr val="phClr">
                <a:tint val="60000"/>
                <a:satMod val="130000"/>
                <a:lumMod val="100000"/>
              </a:schemeClr>
            </a:gs>
            <a:gs pos="100000">
              <a:schemeClr val="phClr">
                <a:tint val="96000"/>
                <a:lumMod val="108000"/>
              </a:schemeClr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>
                <a:shade val="76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80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38100" dir="4800000" sx="98000" sy="98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38100" dist="38100" dir="4800000" sx="96000" sy="96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3240000"/>
            </a:lightRig>
          </a:scene3d>
          <a:sp3d>
            <a:bevelT w="28575" h="28575"/>
          </a:sp3d>
        </a:effectStyle>
      </a:effectStyleLst>
      <a:bgFillStyleLst>
        <a:solidFill>
          <a:schemeClr val="phClr">
            <a:tint val="93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satMod val="140000"/>
                <a:lumMod val="50000"/>
              </a:schemeClr>
              <a:schemeClr val="phClr">
                <a:tint val="95000"/>
                <a:satMod val="180000"/>
                <a:lumMod val="160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  <a:shade val="90000"/>
                <a:satMod val="120000"/>
                <a:lumMod val="54000"/>
              </a:schemeClr>
              <a:schemeClr val="phClr">
                <a:tint val="80000"/>
                <a:satMod val="160000"/>
                <a:lumMod val="14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Pushpin</Template>
  <TotalTime>236</TotalTime>
  <Words>64</Words>
  <Application>Microsoft Office PowerPoint</Application>
  <PresentationFormat>Presentación en pantalla (4:3)</PresentationFormat>
  <Paragraphs>26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0" baseType="lpstr">
      <vt:lpstr>Chincheta</vt:lpstr>
      <vt:lpstr>Proyecto Final Solidity</vt:lpstr>
      <vt:lpstr>Estructura del proyecto</vt:lpstr>
      <vt:lpstr>Inicio del sistema</vt:lpstr>
      <vt:lpstr>Presentación de PowerPoint</vt:lpstr>
      <vt:lpstr>Máquina de Estados de Usuario </vt:lpstr>
      <vt:lpstr>Matriz de Permisos por Rol </vt:lpstr>
      <vt:lpstr>Grafo del producto derivado cuando llega al Consumer</vt:lpstr>
      <vt:lpstr>Quick workaround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paola</dc:creator>
  <cp:lastModifiedBy>paola</cp:lastModifiedBy>
  <cp:revision>14</cp:revision>
  <dcterms:created xsi:type="dcterms:W3CDTF">2025-12-01T05:00:23Z</dcterms:created>
  <dcterms:modified xsi:type="dcterms:W3CDTF">2025-12-02T22:33:03Z</dcterms:modified>
</cp:coreProperties>
</file>